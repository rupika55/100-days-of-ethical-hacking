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4630400" cy="8229600"/>
  <p:notesSz cx="8229600" cy="14630400"/>
  <p:embeddedFontLst>
    <p:embeddedFont>
      <p:font typeface="Crimson Pro Semi Bold"/>
      <p:regular r:id="rId16"/>
    </p:embeddedFont>
    <p:embeddedFont>
      <p:font typeface="Crimson Pro Semi Bold"/>
      <p:regular r:id="rId17"/>
    </p:embeddedFont>
    <p:embeddedFont>
      <p:font typeface="Crimson Pro Semi Bold"/>
      <p:regular r:id="rId18"/>
    </p:embeddedFont>
    <p:embeddedFont>
      <p:font typeface="Crimson Pro Semi Bold"/>
      <p:regular r:id="rId19"/>
    </p:embeddedFont>
    <p:embeddedFont>
      <p:font typeface="Heebo"/>
      <p:regular r:id="rId20"/>
    </p:embeddedFont>
    <p:embeddedFont>
      <p:font typeface="Heebo"/>
      <p:regular r:id="rId2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Relationship Id="rId21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719852"/>
            <a:ext cx="6864310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Components of an API Communication</a:t>
            </a:r>
            <a:endParaRPr lang="en-US" sz="33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1442799"/>
            <a:ext cx="850583" cy="102072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771888" y="1612821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Client</a:t>
            </a:r>
            <a:endParaRPr lang="en-US" sz="1650" dirty="0"/>
          </a:p>
        </p:txBody>
      </p:sp>
      <p:sp>
        <p:nvSpPr>
          <p:cNvPr id="6" name="Text 2"/>
          <p:cNvSpPr/>
          <p:nvPr/>
        </p:nvSpPr>
        <p:spPr>
          <a:xfrm>
            <a:off x="1771888" y="1955006"/>
            <a:ext cx="6578322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Browser / mobile app / another server → sends HTTP request</a:t>
            </a:r>
            <a:endParaRPr lang="en-US" sz="13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463522"/>
            <a:ext cx="850583" cy="102072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771888" y="2633543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Server</a:t>
            </a:r>
            <a:endParaRPr lang="en-US" sz="1650" dirty="0"/>
          </a:p>
        </p:txBody>
      </p:sp>
      <p:sp>
        <p:nvSpPr>
          <p:cNvPr id="9" name="Text 4"/>
          <p:cNvSpPr/>
          <p:nvPr/>
        </p:nvSpPr>
        <p:spPr>
          <a:xfrm>
            <a:off x="1771888" y="2975729"/>
            <a:ext cx="6578322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machine (Physical / cloud) → runs back-end application → always looks for requests</a:t>
            </a:r>
            <a:endParaRPr lang="en-US" sz="13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3484245"/>
            <a:ext cx="850583" cy="115847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771888" y="3654266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Back-end Application</a:t>
            </a:r>
            <a:endParaRPr lang="en-US" sz="1650" dirty="0"/>
          </a:p>
        </p:txBody>
      </p:sp>
      <p:sp>
        <p:nvSpPr>
          <p:cNvPr id="12" name="Text 6"/>
          <p:cNvSpPr/>
          <p:nvPr/>
        </p:nvSpPr>
        <p:spPr>
          <a:xfrm>
            <a:off x="1771888" y="3996452"/>
            <a:ext cx="6578322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code running on server → handles logic, validates user, talks to DB → API defined here</a:t>
            </a:r>
            <a:endParaRPr lang="en-US" sz="13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4642723"/>
            <a:ext cx="850583" cy="1020723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771888" y="4812744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Database</a:t>
            </a:r>
            <a:endParaRPr lang="en-US" sz="1650" dirty="0"/>
          </a:p>
        </p:txBody>
      </p:sp>
      <p:sp>
        <p:nvSpPr>
          <p:cNvPr id="15" name="Text 8"/>
          <p:cNvSpPr/>
          <p:nvPr/>
        </p:nvSpPr>
        <p:spPr>
          <a:xfrm>
            <a:off x="1771888" y="5154930"/>
            <a:ext cx="6578322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Stores data &amp; back-end fetches data from here</a:t>
            </a:r>
            <a:endParaRPr lang="en-US" sz="1300" dirty="0"/>
          </a:p>
        </p:txBody>
      </p:sp>
      <p:sp>
        <p:nvSpPr>
          <p:cNvPr id="16" name="Shape 9"/>
          <p:cNvSpPr/>
          <p:nvPr/>
        </p:nvSpPr>
        <p:spPr>
          <a:xfrm>
            <a:off x="671274" y="5806916"/>
            <a:ext cx="3815715" cy="1702832"/>
          </a:xfrm>
          <a:prstGeom prst="roundRect">
            <a:avLst>
              <a:gd name="adj" fmla="val 1499"/>
            </a:avLst>
          </a:prstGeom>
          <a:solidFill>
            <a:srgbClr val="CCCCCC"/>
          </a:solidFill>
          <a:ln/>
        </p:spPr>
      </p:sp>
      <p:sp>
        <p:nvSpPr>
          <p:cNvPr id="17" name="Text 10"/>
          <p:cNvSpPr/>
          <p:nvPr/>
        </p:nvSpPr>
        <p:spPr>
          <a:xfrm>
            <a:off x="841296" y="5934432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API – End Point</a:t>
            </a:r>
            <a:endParaRPr lang="en-US" sz="1650" dirty="0"/>
          </a:p>
        </p:txBody>
      </p:sp>
      <p:sp>
        <p:nvSpPr>
          <p:cNvPr id="18" name="Text 11"/>
          <p:cNvSpPr/>
          <p:nvPr/>
        </p:nvSpPr>
        <p:spPr>
          <a:xfrm>
            <a:off x="841296" y="6327696"/>
            <a:ext cx="3475673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Specific URL path in API is known as </a:t>
            </a:r>
            <a:pPr algn="l" indent="0" marL="0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API end-point</a:t>
            </a:r>
            <a:endParaRPr lang="en-US" sz="1300" dirty="0"/>
          </a:p>
        </p:txBody>
      </p:sp>
      <p:sp>
        <p:nvSpPr>
          <p:cNvPr id="19" name="Text 12"/>
          <p:cNvSpPr/>
          <p:nvPr/>
        </p:nvSpPr>
        <p:spPr>
          <a:xfrm>
            <a:off x="841296" y="6918722"/>
            <a:ext cx="3475673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→ Each API end-point performs specific action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4787146" y="5934432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Key Takeaway</a:t>
            </a:r>
            <a:endParaRPr lang="en-US" sz="1650" dirty="0"/>
          </a:p>
        </p:txBody>
      </p:sp>
      <p:sp>
        <p:nvSpPr>
          <p:cNvPr id="21" name="Text 14"/>
          <p:cNvSpPr/>
          <p:nvPr/>
        </p:nvSpPr>
        <p:spPr>
          <a:xfrm>
            <a:off x="4787146" y="6327696"/>
            <a:ext cx="3570684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client sends an HTTP request → the server receives it → the back-end application processes it → the database stores/returns data.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56799"/>
            <a:ext cx="607956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API End-Points: Examples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21920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Each URL below is a distinct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API end-point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that performs a specific action on the server.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837259"/>
            <a:ext cx="4196358" cy="2115622"/>
          </a:xfrm>
          <a:prstGeom prst="roundRect">
            <a:avLst>
              <a:gd name="adj" fmla="val 6915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3310" y="2837259"/>
            <a:ext cx="121920" cy="2115622"/>
          </a:xfrm>
          <a:prstGeom prst="roundRect">
            <a:avLst>
              <a:gd name="adj" fmla="val 27907"/>
            </a:avLst>
          </a:prstGeom>
          <a:solidFill>
            <a:srgbClr val="2150FE"/>
          </a:solidFill>
          <a:ln/>
        </p:spPr>
      </p:sp>
      <p:sp>
        <p:nvSpPr>
          <p:cNvPr id="6" name="Text 4"/>
          <p:cNvSpPr/>
          <p:nvPr/>
        </p:nvSpPr>
        <p:spPr>
          <a:xfrm>
            <a:off x="1142524" y="3094553"/>
            <a:ext cx="3590330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https://example.com/api/users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42524" y="3969782"/>
            <a:ext cx="35903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Retrieves a list of all users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2837259"/>
            <a:ext cx="4196358" cy="2115622"/>
          </a:xfrm>
          <a:prstGeom prst="roundRect">
            <a:avLst>
              <a:gd name="adj" fmla="val 6915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86482" y="2837259"/>
            <a:ext cx="121920" cy="2115622"/>
          </a:xfrm>
          <a:prstGeom prst="roundRect">
            <a:avLst>
              <a:gd name="adj" fmla="val 27907"/>
            </a:avLst>
          </a:prstGeom>
          <a:solidFill>
            <a:srgbClr val="2150FE"/>
          </a:solidFill>
          <a:ln/>
        </p:spPr>
      </p:sp>
      <p:sp>
        <p:nvSpPr>
          <p:cNvPr id="10" name="Text 8"/>
          <p:cNvSpPr/>
          <p:nvPr/>
        </p:nvSpPr>
        <p:spPr>
          <a:xfrm>
            <a:off x="5565696" y="3094553"/>
            <a:ext cx="3590330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https://example.com/api/login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565696" y="3969782"/>
            <a:ext cx="35903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Handles user authentication / login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2837259"/>
            <a:ext cx="4196358" cy="2115622"/>
          </a:xfrm>
          <a:prstGeom prst="roundRect">
            <a:avLst>
              <a:gd name="adj" fmla="val 6915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9653" y="2837259"/>
            <a:ext cx="121920" cy="2115622"/>
          </a:xfrm>
          <a:prstGeom prst="roundRect">
            <a:avLst>
              <a:gd name="adj" fmla="val 27907"/>
            </a:avLst>
          </a:prstGeom>
          <a:solidFill>
            <a:srgbClr val="2150FE"/>
          </a:solidFill>
          <a:ln/>
        </p:spPr>
      </p:sp>
      <p:sp>
        <p:nvSpPr>
          <p:cNvPr id="14" name="Text 12"/>
          <p:cNvSpPr/>
          <p:nvPr/>
        </p:nvSpPr>
        <p:spPr>
          <a:xfrm>
            <a:off x="9988868" y="3094553"/>
            <a:ext cx="3590330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https://example.com/api/user/123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988868" y="3969782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Retrieves data for a specific user with ID 123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630436" y="5208032"/>
            <a:ext cx="6571417" cy="1964769"/>
          </a:xfrm>
          <a:prstGeom prst="roundRect">
            <a:avLst>
              <a:gd name="adj" fmla="val 1732"/>
            </a:avLst>
          </a:prstGeom>
          <a:solidFill>
            <a:srgbClr val="CCCCCC"/>
          </a:solidFill>
          <a:ln/>
        </p:spPr>
      </p:sp>
      <p:sp>
        <p:nvSpPr>
          <p:cNvPr id="17" name="Text 15"/>
          <p:cNvSpPr/>
          <p:nvPr/>
        </p:nvSpPr>
        <p:spPr>
          <a:xfrm>
            <a:off x="857250" y="543484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Server Address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57250" y="6015990"/>
            <a:ext cx="6117788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highlight>
                  <a:srgbClr val="BFBFB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example.com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→ server address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599521" y="543484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Endpoint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599521" y="6015990"/>
            <a:ext cx="6244709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api/users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&amp;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api/user/123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→ Endpoint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7599521" y="660582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Server hosts the API; endpoint is part of the API.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77866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How API Works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182760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01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2182654"/>
            <a:ext cx="3664744" cy="3048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6" name="Text 3"/>
          <p:cNvSpPr/>
          <p:nvPr/>
        </p:nvSpPr>
        <p:spPr>
          <a:xfrm>
            <a:off x="793790" y="2356961"/>
            <a:ext cx="309110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Client sends HTTP request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93790" y="2847380"/>
            <a:ext cx="3664744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Eg: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 api/user/123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93790" y="3369231"/>
            <a:ext cx="3664744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Authorization: Bearer token123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793790" y="3891082"/>
            <a:ext cx="3664744" cy="1610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Method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→ GET / POST / PUT / DELETE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Endpoint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→ api/user/123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Headers, Body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4685348" y="182760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02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4685348" y="2182654"/>
            <a:ext cx="3664863" cy="3048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2" name="Text 9"/>
          <p:cNvSpPr/>
          <p:nvPr/>
        </p:nvSpPr>
        <p:spPr>
          <a:xfrm>
            <a:off x="4685348" y="235696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DNS Resolution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4685348" y="2847380"/>
            <a:ext cx="36648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Domain name → IP address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793790" y="589811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5" name="Shape 12"/>
          <p:cNvSpPr/>
          <p:nvPr/>
        </p:nvSpPr>
        <p:spPr>
          <a:xfrm>
            <a:off x="793790" y="6253163"/>
            <a:ext cx="7556421" cy="3048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6" name="Text 13"/>
          <p:cNvSpPr/>
          <p:nvPr/>
        </p:nvSpPr>
        <p:spPr>
          <a:xfrm>
            <a:off x="793790" y="642747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TCP + TLS Handshake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793790" y="691788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secure session is established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76720"/>
            <a:ext cx="966858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API (Application Programming Interface)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29733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→ A software layer which allows two applications / client &amp; server to communicate in a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controlled &amp; structured way.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559612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→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API is not just a URL;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it is a set of rules &amp; a communication mechanism.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3790" y="4653948"/>
            <a:ext cx="6244709" cy="35957"/>
          </a:xfrm>
          <a:prstGeom prst="rect">
            <a:avLst/>
          </a:prstGeom>
          <a:solidFill>
            <a:srgbClr val="4C4C4D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93790" y="49450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It defines: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93790" y="5526167"/>
            <a:ext cx="6244709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1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How request should be sent?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2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What response will be returned?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3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 what form the data should be?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36168" y="2425660"/>
            <a:ext cx="6571417" cy="4427101"/>
          </a:xfrm>
          <a:prstGeom prst="roundRect">
            <a:avLst>
              <a:gd name="adj" fmla="val 769"/>
            </a:avLst>
          </a:prstGeom>
          <a:solidFill>
            <a:srgbClr val="CCCCCC"/>
          </a:solidFill>
          <a:ln/>
        </p:spPr>
      </p:sp>
      <p:sp>
        <p:nvSpPr>
          <p:cNvPr id="9" name="Text 7"/>
          <p:cNvSpPr/>
          <p:nvPr/>
        </p:nvSpPr>
        <p:spPr>
          <a:xfrm>
            <a:off x="7662982" y="265247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Key Terms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662982" y="3233618"/>
            <a:ext cx="6117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Endpoint →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specific URL path inside API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662982" y="3800594"/>
            <a:ext cx="6117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Request →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message sent by client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662982" y="4367570"/>
            <a:ext cx="6117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Response →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message returned by server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119" y="673775"/>
            <a:ext cx="10965299" cy="680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50"/>
              </a:lnSpc>
              <a:buNone/>
            </a:pPr>
            <a:r>
              <a:rPr lang="en-US" sz="42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What is PII (Personally Identifiable Information)</a:t>
            </a: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762119" y="1772245"/>
            <a:ext cx="13106162" cy="341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following data will be considered as </a:t>
            </a:r>
            <a:pPr algn="l" indent="0" marL="0">
              <a:lnSpc>
                <a:spcPts val="2650"/>
              </a:lnSpc>
              <a:buNone/>
            </a:pPr>
            <a:r>
              <a:rPr lang="en-US" sz="1700" b="1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Sensitive Information</a:t>
            </a:r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: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62119" y="2348746"/>
            <a:ext cx="6448544" cy="3728918"/>
          </a:xfrm>
          <a:prstGeom prst="roundRect">
            <a:avLst>
              <a:gd name="adj" fmla="val 876"/>
            </a:avLst>
          </a:prstGeom>
          <a:solidFill>
            <a:srgbClr val="F2EEEE"/>
          </a:solidFill>
          <a:ln/>
        </p:spPr>
      </p:sp>
      <p:sp>
        <p:nvSpPr>
          <p:cNvPr id="5" name="Text 3"/>
          <p:cNvSpPr/>
          <p:nvPr/>
        </p:nvSpPr>
        <p:spPr>
          <a:xfrm>
            <a:off x="979765" y="2566392"/>
            <a:ext cx="2721888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Personal Details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79765" y="3031927"/>
            <a:ext cx="6013252" cy="2828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Name</a:t>
            </a:r>
            <a:endParaRPr lang="en-US" sz="1700" dirty="0"/>
          </a:p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Email</a:t>
            </a:r>
            <a:endParaRPr lang="en-US" sz="1700" dirty="0"/>
          </a:p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Phone number</a:t>
            </a:r>
            <a:endParaRPr lang="en-US" sz="1700" dirty="0"/>
          </a:p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Address</a:t>
            </a:r>
            <a:endParaRPr lang="en-US" sz="1700" dirty="0"/>
          </a:p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Aadhar</a:t>
            </a:r>
            <a:endParaRPr lang="en-US" sz="1700" dirty="0"/>
          </a:p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Passport</a:t>
            </a:r>
            <a:endParaRPr lang="en-US" sz="1700" dirty="0"/>
          </a:p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DOB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419618" y="2348746"/>
            <a:ext cx="6448663" cy="3728918"/>
          </a:xfrm>
          <a:prstGeom prst="roundRect">
            <a:avLst>
              <a:gd name="adj" fmla="val 876"/>
            </a:avLst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7637264" y="2566392"/>
            <a:ext cx="2721888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Financial &amp; Auth Data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7637264" y="3031927"/>
            <a:ext cx="6013371" cy="1999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Bank details</a:t>
            </a:r>
            <a:endParaRPr lang="en-US" sz="1700" dirty="0"/>
          </a:p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Credit card</a:t>
            </a:r>
            <a:endParaRPr lang="en-US" sz="1700" dirty="0"/>
          </a:p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Password</a:t>
            </a:r>
            <a:endParaRPr lang="en-US" sz="1700" dirty="0"/>
          </a:p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Token</a:t>
            </a:r>
            <a:endParaRPr lang="en-US" sz="1700" dirty="0"/>
          </a:p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API keys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62119" y="6312813"/>
            <a:ext cx="13106162" cy="1243013"/>
          </a:xfrm>
          <a:prstGeom prst="roundRect">
            <a:avLst>
              <a:gd name="adj" fmla="val 2628"/>
            </a:avLst>
          </a:prstGeom>
          <a:solidFill>
            <a:srgbClr val="B3C3FF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765" y="6630591"/>
            <a:ext cx="272177" cy="21764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69588" y="6576179"/>
            <a:ext cx="12181046" cy="68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→ The above mentioned data will be considered as </a:t>
            </a:r>
            <a:pPr algn="l" indent="0" marL="0">
              <a:lnSpc>
                <a:spcPts val="265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Sensitive information</a:t>
            </a:r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and must be protected from exposure in API responses.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001792"/>
            <a:ext cx="5103614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0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API Data Leakage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6280190" y="1915239"/>
            <a:ext cx="7556421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When API exposes sensitive / unnecessary information in response it is known as </a:t>
            </a:r>
            <a:pPr algn="l"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API Data Leakage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280190" y="2811304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Example: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280190" y="3612356"/>
            <a:ext cx="3529251" cy="3408759"/>
          </a:xfrm>
          <a:prstGeom prst="roundRect">
            <a:avLst>
              <a:gd name="adj" fmla="val 898"/>
            </a:avLst>
          </a:prstGeom>
          <a:solidFill>
            <a:srgbClr val="F2F2F2"/>
          </a:solidFill>
          <a:ln/>
        </p:spPr>
      </p:sp>
      <p:sp>
        <p:nvSpPr>
          <p:cNvPr id="7" name="Shape 4"/>
          <p:cNvSpPr/>
          <p:nvPr/>
        </p:nvSpPr>
        <p:spPr>
          <a:xfrm>
            <a:off x="6270069" y="3612356"/>
            <a:ext cx="3549491" cy="3408759"/>
          </a:xfrm>
          <a:prstGeom prst="roundRect">
            <a:avLst>
              <a:gd name="adj" fmla="val 898"/>
            </a:avLst>
          </a:prstGeom>
          <a:solidFill>
            <a:srgbClr val="F2F2F2"/>
          </a:solidFill>
          <a:ln/>
        </p:spPr>
      </p:sp>
      <p:sp>
        <p:nvSpPr>
          <p:cNvPr id="8" name="Text 5"/>
          <p:cNvSpPr/>
          <p:nvPr/>
        </p:nvSpPr>
        <p:spPr>
          <a:xfrm>
            <a:off x="6474143" y="3765352"/>
            <a:ext cx="3141345" cy="3102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"id": 123,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"name": "Rupika",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"email": "rupikachoudary@gmail.com",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"password_hash": "abc123",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"isAdmin": true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0168057" y="3405664"/>
            <a:ext cx="3823097" cy="3822144"/>
          </a:xfrm>
          <a:prstGeom prst="roundRect">
            <a:avLst>
              <a:gd name="adj" fmla="val 801"/>
            </a:avLst>
          </a:prstGeom>
          <a:solidFill>
            <a:srgbClr val="CCCCCC"/>
          </a:solidFill>
          <a:ln/>
        </p:spPr>
      </p:sp>
      <p:sp>
        <p:nvSpPr>
          <p:cNvPr id="10" name="Text 7"/>
          <p:cNvSpPr/>
          <p:nvPr/>
        </p:nvSpPr>
        <p:spPr>
          <a:xfrm>
            <a:off x="10372130" y="3589377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What's Exposed?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0372130" y="4091940"/>
            <a:ext cx="3414951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Here </a:t>
            </a:r>
            <a:pPr algn="l"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hashed password</a:t>
            </a:r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&amp; </a:t>
            </a:r>
            <a:pPr algn="l"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internal role</a:t>
            </a:r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has been exposed.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372130" y="4877753"/>
            <a:ext cx="3414951" cy="1335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highlight>
                  <a:srgbClr val="BFBFB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password_hash</a:t>
            </a:r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→ sensitive credential data</a:t>
            </a:r>
            <a:endParaRPr lang="en-US" sz="1600" dirty="0"/>
          </a:p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highlight>
                  <a:srgbClr val="BFBFB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isAdmin</a:t>
            </a:r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→ internal role / privilege flag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07952"/>
            <a:ext cx="1243584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Where Leakage Usually Happens &amp; How to Identify It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983706"/>
            <a:ext cx="382190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Where Leakage Usually Happens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93790" y="3593187"/>
            <a:ext cx="3008948" cy="1223248"/>
          </a:xfrm>
          <a:prstGeom prst="roundRect">
            <a:avLst>
              <a:gd name="adj" fmla="val 11960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3310" y="3593187"/>
            <a:ext cx="121920" cy="1223248"/>
          </a:xfrm>
          <a:prstGeom prst="roundRect">
            <a:avLst>
              <a:gd name="adj" fmla="val 27907"/>
            </a:avLst>
          </a:prstGeom>
          <a:solidFill>
            <a:srgbClr val="2150FE"/>
          </a:solidFill>
          <a:ln/>
        </p:spPr>
      </p:sp>
      <p:sp>
        <p:nvSpPr>
          <p:cNvPr id="6" name="Text 4"/>
          <p:cNvSpPr/>
          <p:nvPr/>
        </p:nvSpPr>
        <p:spPr>
          <a:xfrm>
            <a:off x="1142524" y="3850481"/>
            <a:ext cx="240291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Broken access control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029551" y="3593187"/>
            <a:ext cx="3008948" cy="1223248"/>
          </a:xfrm>
          <a:prstGeom prst="roundRect">
            <a:avLst>
              <a:gd name="adj" fmla="val 11960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99071" y="3593187"/>
            <a:ext cx="121920" cy="1223248"/>
          </a:xfrm>
          <a:prstGeom prst="roundRect">
            <a:avLst>
              <a:gd name="adj" fmla="val 27907"/>
            </a:avLst>
          </a:prstGeom>
          <a:solidFill>
            <a:srgbClr val="2150FE"/>
          </a:solidFill>
          <a:ln/>
        </p:spPr>
      </p:sp>
      <p:sp>
        <p:nvSpPr>
          <p:cNvPr id="9" name="Text 7"/>
          <p:cNvSpPr/>
          <p:nvPr/>
        </p:nvSpPr>
        <p:spPr>
          <a:xfrm>
            <a:off x="4378285" y="3850481"/>
            <a:ext cx="240291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Debug mode enabled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93790" y="5043249"/>
            <a:ext cx="3008948" cy="1223248"/>
          </a:xfrm>
          <a:prstGeom prst="roundRect">
            <a:avLst>
              <a:gd name="adj" fmla="val 11960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3310" y="5043249"/>
            <a:ext cx="121920" cy="1223248"/>
          </a:xfrm>
          <a:prstGeom prst="roundRect">
            <a:avLst>
              <a:gd name="adj" fmla="val 27907"/>
            </a:avLst>
          </a:prstGeom>
          <a:solidFill>
            <a:srgbClr val="2150FE"/>
          </a:solidFill>
          <a:ln/>
        </p:spPr>
      </p:sp>
      <p:sp>
        <p:nvSpPr>
          <p:cNvPr id="12" name="Text 10"/>
          <p:cNvSpPr/>
          <p:nvPr/>
        </p:nvSpPr>
        <p:spPr>
          <a:xfrm>
            <a:off x="1142524" y="5300543"/>
            <a:ext cx="240291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Returning full database object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029551" y="5043249"/>
            <a:ext cx="3008948" cy="1223248"/>
          </a:xfrm>
          <a:prstGeom prst="roundRect">
            <a:avLst>
              <a:gd name="adj" fmla="val 11960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99071" y="5043249"/>
            <a:ext cx="121920" cy="1223248"/>
          </a:xfrm>
          <a:prstGeom prst="roundRect">
            <a:avLst>
              <a:gd name="adj" fmla="val 27907"/>
            </a:avLst>
          </a:prstGeom>
          <a:solidFill>
            <a:srgbClr val="2150FE"/>
          </a:solidFill>
          <a:ln/>
        </p:spPr>
      </p:sp>
      <p:sp>
        <p:nvSpPr>
          <p:cNvPr id="15" name="Text 13"/>
          <p:cNvSpPr/>
          <p:nvPr/>
        </p:nvSpPr>
        <p:spPr>
          <a:xfrm>
            <a:off x="4378285" y="5300543"/>
            <a:ext cx="240291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Improper role validation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599521" y="2983706"/>
            <a:ext cx="457104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How to Identify Sensitive Data Leakage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599521" y="3564850"/>
            <a:ext cx="6244709" cy="2573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1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Does response contain extra fields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2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Are internal flags exposed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3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Is PII visible without login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4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Are tokens exposed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5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Debug messages exposed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6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Can users access other users data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889278"/>
            <a:ext cx="7556421" cy="1346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2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API Leakage: Where It Happens in the Flow</a:t>
            </a:r>
            <a:endParaRPr lang="en-US" sz="4200" dirty="0"/>
          </a:p>
        </p:txBody>
      </p:sp>
      <p:sp>
        <p:nvSpPr>
          <p:cNvPr id="4" name="Shape 1"/>
          <p:cNvSpPr/>
          <p:nvPr/>
        </p:nvSpPr>
        <p:spPr>
          <a:xfrm>
            <a:off x="6280190" y="2543175"/>
            <a:ext cx="7556421" cy="1623298"/>
          </a:xfrm>
          <a:prstGeom prst="roundRect">
            <a:avLst>
              <a:gd name="adj" fmla="val 9013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249710" y="2543175"/>
            <a:ext cx="121920" cy="1623298"/>
          </a:xfrm>
          <a:prstGeom prst="roundRect">
            <a:avLst>
              <a:gd name="adj" fmla="val 26512"/>
            </a:avLst>
          </a:prstGeom>
          <a:solidFill>
            <a:srgbClr val="2150FE"/>
          </a:solidFill>
          <a:ln/>
        </p:spPr>
      </p:sp>
      <p:sp>
        <p:nvSpPr>
          <p:cNvPr id="6" name="Text 3"/>
          <p:cNvSpPr/>
          <p:nvPr/>
        </p:nvSpPr>
        <p:spPr>
          <a:xfrm>
            <a:off x="6617494" y="2789039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Request reaches Server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6617494" y="3248382"/>
            <a:ext cx="6973253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API leakage mostly happens in </a:t>
            </a:r>
            <a:pPr algn="l" indent="0" marL="0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response layer</a:t>
            </a:r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due to improper filtrations, developer mistakes &amp; missing access control.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6280190" y="4371142"/>
            <a:ext cx="7556421" cy="2969062"/>
          </a:xfrm>
          <a:prstGeom prst="roundRect">
            <a:avLst>
              <a:gd name="adj" fmla="val 4928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49710" y="4371142"/>
            <a:ext cx="121920" cy="2969062"/>
          </a:xfrm>
          <a:prstGeom prst="roundRect">
            <a:avLst>
              <a:gd name="adj" fmla="val 26512"/>
            </a:avLst>
          </a:prstGeom>
          <a:solidFill>
            <a:srgbClr val="2150FE"/>
          </a:solidFill>
          <a:ln/>
        </p:spPr>
      </p:sp>
      <p:sp>
        <p:nvSpPr>
          <p:cNvPr id="10" name="Text 7"/>
          <p:cNvSpPr/>
          <p:nvPr/>
        </p:nvSpPr>
        <p:spPr>
          <a:xfrm>
            <a:off x="6617494" y="4617006"/>
            <a:ext cx="3468410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Back-end (API) process request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6617494" y="5076349"/>
            <a:ext cx="6973253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It checks: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6617494" y="5535216"/>
            <a:ext cx="6973253" cy="1559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Font typeface="+mj-lt"/>
              <a:buAutoNum type="arabicPeriod" startAt="1"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Is user </a:t>
            </a:r>
            <a:pPr algn="l" indent="0" marL="0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authenticated</a:t>
            </a:r>
            <a:endParaRPr lang="en-US" sz="1650" dirty="0"/>
          </a:p>
          <a:p>
            <a:pPr algn="l" marL="342900" indent="-342900">
              <a:lnSpc>
                <a:spcPts val="2600"/>
              </a:lnSpc>
              <a:buSzPct val="100000"/>
              <a:buFont typeface="+mj-lt"/>
              <a:buAutoNum type="arabicPeriod" startAt="2"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Is user </a:t>
            </a:r>
            <a:pPr algn="l" indent="0" marL="0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authorized</a:t>
            </a:r>
            <a:endParaRPr lang="en-US" sz="1650" dirty="0"/>
          </a:p>
          <a:p>
            <a:pPr algn="l" marL="342900" indent="-342900">
              <a:lnSpc>
                <a:spcPts val="2600"/>
              </a:lnSpc>
              <a:buSzPct val="100000"/>
              <a:buFont typeface="+mj-lt"/>
              <a:buAutoNum type="arabicPeriod" startAt="3"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Is input </a:t>
            </a:r>
            <a:pPr algn="l" indent="0" marL="0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valid</a:t>
            </a:r>
            <a:endParaRPr lang="en-US" sz="1650" dirty="0"/>
          </a:p>
          <a:p>
            <a:pPr algn="l" marL="342900" indent="-342900">
              <a:lnSpc>
                <a:spcPts val="2600"/>
              </a:lnSpc>
              <a:buSzPct val="100000"/>
              <a:buFont typeface="+mj-lt"/>
              <a:buAutoNum type="arabicPeriod" startAt="4"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Is route </a:t>
            </a:r>
            <a:pPr algn="l" indent="0" marL="0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valid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20579"/>
            <a:ext cx="817637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Database Query &amp; Server Response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630436" y="1869519"/>
            <a:ext cx="6571417" cy="5539383"/>
          </a:xfrm>
          <a:prstGeom prst="roundRect">
            <a:avLst>
              <a:gd name="adj" fmla="val 614"/>
            </a:avLst>
          </a:prstGeom>
          <a:solidFill>
            <a:srgbClr val="CCCCCC"/>
          </a:solidFill>
          <a:ln/>
        </p:spPr>
      </p:sp>
      <p:sp>
        <p:nvSpPr>
          <p:cNvPr id="4" name="Text 2"/>
          <p:cNvSpPr/>
          <p:nvPr/>
        </p:nvSpPr>
        <p:spPr>
          <a:xfrm>
            <a:off x="857250" y="20963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iii) Database Query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57250" y="2705814"/>
            <a:ext cx="6117788" cy="702945"/>
          </a:xfrm>
          <a:prstGeom prst="roundRect">
            <a:avLst>
              <a:gd name="adj" fmla="val 4840"/>
            </a:avLst>
          </a:prstGeom>
          <a:solidFill>
            <a:srgbClr val="BFBFBF"/>
          </a:solidFill>
          <a:ln/>
        </p:spPr>
      </p:sp>
      <p:sp>
        <p:nvSpPr>
          <p:cNvPr id="6" name="Shape 4"/>
          <p:cNvSpPr/>
          <p:nvPr/>
        </p:nvSpPr>
        <p:spPr>
          <a:xfrm>
            <a:off x="845939" y="2705814"/>
            <a:ext cx="6140410" cy="702945"/>
          </a:xfrm>
          <a:prstGeom prst="roundRect">
            <a:avLst>
              <a:gd name="adj" fmla="val 4840"/>
            </a:avLst>
          </a:prstGeom>
          <a:solidFill>
            <a:srgbClr val="BFBFBF"/>
          </a:solidFill>
          <a:ln/>
        </p:spPr>
      </p:sp>
      <p:sp>
        <p:nvSpPr>
          <p:cNvPr id="7" name="Text 5"/>
          <p:cNvSpPr/>
          <p:nvPr/>
        </p:nvSpPr>
        <p:spPr>
          <a:xfrm>
            <a:off x="1072753" y="2875836"/>
            <a:ext cx="5686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highlight>
                  <a:srgbClr val="BFBFB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users WHERE id = 123;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857250" y="3663910"/>
            <a:ext cx="293393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iv) Server sends response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857250" y="4273391"/>
            <a:ext cx="6117788" cy="2880360"/>
          </a:xfrm>
          <a:prstGeom prst="roundRect">
            <a:avLst>
              <a:gd name="adj" fmla="val 1181"/>
            </a:avLst>
          </a:prstGeom>
          <a:solidFill>
            <a:srgbClr val="BFBFBF"/>
          </a:solidFill>
          <a:ln/>
        </p:spPr>
      </p:sp>
      <p:sp>
        <p:nvSpPr>
          <p:cNvPr id="10" name="Shape 8"/>
          <p:cNvSpPr/>
          <p:nvPr/>
        </p:nvSpPr>
        <p:spPr>
          <a:xfrm>
            <a:off x="845939" y="4273391"/>
            <a:ext cx="6140410" cy="2880360"/>
          </a:xfrm>
          <a:prstGeom prst="roundRect">
            <a:avLst>
              <a:gd name="adj" fmla="val 1181"/>
            </a:avLst>
          </a:prstGeom>
          <a:solidFill>
            <a:srgbClr val="BFBFBF"/>
          </a:solidFill>
          <a:ln/>
        </p:spPr>
      </p:sp>
      <p:sp>
        <p:nvSpPr>
          <p:cNvPr id="11" name="Text 9"/>
          <p:cNvSpPr/>
          <p:nvPr/>
        </p:nvSpPr>
        <p:spPr>
          <a:xfrm>
            <a:off x="1072753" y="4443413"/>
            <a:ext cx="5686782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highlight>
                  <a:srgbClr val="BFBFB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endParaRPr lang="en-US" sz="1750" dirty="0"/>
          </a:p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highlight>
                  <a:srgbClr val="BFBFB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75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highlight>
                  <a:srgbClr val="BFBFB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"id": 123,</a:t>
            </a:r>
            <a:endParaRPr lang="en-US" sz="175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highlight>
                  <a:srgbClr val="BFBFB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"name": "Ravi",</a:t>
            </a:r>
            <a:endParaRPr lang="en-US" sz="175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highlight>
                  <a:srgbClr val="BFBFB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"email": "ravi@gmail.com"</a:t>
            </a:r>
            <a:endParaRPr lang="en-US" sz="175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highlight>
                  <a:srgbClr val="BFBFB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9521" y="20963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Final Step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599521" y="267747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→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Client receives &amp; displays it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7599521" y="3408912"/>
            <a:ext cx="6244709" cy="35957"/>
          </a:xfrm>
          <a:prstGeom prst="rect">
            <a:avLst/>
          </a:prstGeom>
          <a:solidFill>
            <a:srgbClr val="4C4C4D">
              <a:alpha val="5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7599521" y="3699986"/>
            <a:ext cx="6244709" cy="1497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Notice that in this response, only the necessary fields (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) are returned — no password hash, no internal flags. This is the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correct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approach to prevent API Data Leakage.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2026-03-05T13:58:03Z</dcterms:created>
  <dcterms:modified xsi:type="dcterms:W3CDTF">2026-03-05T13:58:03Z</dcterms:modified>
</cp:coreProperties>
</file>