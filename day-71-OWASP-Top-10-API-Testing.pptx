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4630400" cy="8229600"/>
  <p:notesSz cx="8229600" cy="14630400"/>
  <p:embeddedFontLst>
    <p:embeddedFont>
      <p:font typeface="Gelasio" pitchFamily="34" charset="0"/>
      <p:bold r:id="rId15"/>
    </p:embeddedFont>
    <p:embeddedFont>
      <p:font typeface="Gelasio" pitchFamily="34" charset="-122"/>
      <p:bold r:id="rId16"/>
    </p:embeddedFont>
    <p:embeddedFont>
      <p:font typeface="Gelasio" pitchFamily="34" charset="-120"/>
      <p:bold r:id="rId17"/>
    </p:embeddedFont>
    <p:embeddedFont>
      <p:font typeface="Lato" panose="020F0802020204030203" pitchFamily="34" charset="0"/>
      <p:bold r:id="rId18"/>
    </p:embeddedFont>
    <p:embeddedFont>
      <p:font typeface="Lato" panose="020F0802020204030203" pitchFamily="34" charset="-122"/>
      <p:bold r:id="rId19"/>
    </p:embeddedFont>
    <p:embeddedFont>
      <p:font typeface="Lato" panose="020F0802020204030203" pitchFamily="34" charset="-120"/>
      <p:bold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8.xml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image" Target="../media/image19.sv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svg"/><Relationship Id="rId7" Type="http://schemas.openxmlformats.org/officeDocument/2006/relationships/image" Target="../media/image28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9.xml"/><Relationship Id="rId13" Type="http://schemas.openxmlformats.org/officeDocument/2006/relationships/image" Target="../media/image34.png"/><Relationship Id="rId12" Type="http://schemas.openxmlformats.org/officeDocument/2006/relationships/image" Target="../media/image33.svg"/><Relationship Id="rId11" Type="http://schemas.openxmlformats.org/officeDocument/2006/relationships/image" Target="../media/image32.png"/><Relationship Id="rId10" Type="http://schemas.openxmlformats.org/officeDocument/2006/relationships/image" Target="../media/image31.svg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60351"/>
            <a:ext cx="701611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OWASP Top 10-API Testing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956" y="627221"/>
            <a:ext cx="7568089" cy="14073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Broken Object Level Authorization (BOLA)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87956" y="2369701"/>
            <a:ext cx="7568089" cy="1356003"/>
          </a:xfrm>
          <a:prstGeom prst="roundRect">
            <a:avLst>
              <a:gd name="adj" fmla="val 1078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57476" y="2369701"/>
            <a:ext cx="121920" cy="1356003"/>
          </a:xfrm>
          <a:prstGeom prst="roundRect">
            <a:avLst>
              <a:gd name="adj" fmla="val 77565"/>
            </a:avLst>
          </a:prstGeom>
          <a:solidFill>
            <a:srgbClr val="E5E5E0"/>
          </a:solidFill>
        </p:spPr>
      </p:sp>
      <p:sp>
        <p:nvSpPr>
          <p:cNvPr id="6" name="Text 3"/>
          <p:cNvSpPr/>
          <p:nvPr/>
        </p:nvSpPr>
        <p:spPr>
          <a:xfrm>
            <a:off x="1135023" y="2625328"/>
            <a:ext cx="2814399" cy="3518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Security Vulnerability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35023" y="3111222"/>
            <a:ext cx="6965394" cy="358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BOLA is a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security vulnerability in APIs</a:t>
            </a: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87956" y="3949184"/>
            <a:ext cx="7568089" cy="1714857"/>
          </a:xfrm>
          <a:prstGeom prst="roundRect">
            <a:avLst>
              <a:gd name="adj" fmla="val 853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7476" y="3949184"/>
            <a:ext cx="121920" cy="1714857"/>
          </a:xfrm>
          <a:prstGeom prst="roundRect">
            <a:avLst>
              <a:gd name="adj" fmla="val 77565"/>
            </a:avLst>
          </a:prstGeom>
          <a:solidFill>
            <a:srgbClr val="E5E5E0"/>
          </a:solidFill>
        </p:spPr>
      </p:sp>
      <p:sp>
        <p:nvSpPr>
          <p:cNvPr id="10" name="Text 7"/>
          <p:cNvSpPr/>
          <p:nvPr/>
        </p:nvSpPr>
        <p:spPr>
          <a:xfrm>
            <a:off x="1135023" y="4204811"/>
            <a:ext cx="2814399" cy="3518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Unauthorized Access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35023" y="4690705"/>
            <a:ext cx="6965394" cy="7177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It occurs when a user can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access objects or data without proper permission</a:t>
            </a: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87956" y="5887522"/>
            <a:ext cx="7568089" cy="1714857"/>
          </a:xfrm>
          <a:prstGeom prst="roundRect">
            <a:avLst>
              <a:gd name="adj" fmla="val 853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7476" y="5887522"/>
            <a:ext cx="121920" cy="1714857"/>
          </a:xfrm>
          <a:prstGeom prst="roundRect">
            <a:avLst>
              <a:gd name="adj" fmla="val 77565"/>
            </a:avLst>
          </a:prstGeom>
          <a:solidFill>
            <a:srgbClr val="E5E5E0"/>
          </a:solidFill>
        </p:spPr>
      </p:sp>
      <p:sp>
        <p:nvSpPr>
          <p:cNvPr id="14" name="Text 11"/>
          <p:cNvSpPr/>
          <p:nvPr/>
        </p:nvSpPr>
        <p:spPr>
          <a:xfrm>
            <a:off x="1135023" y="6143149"/>
            <a:ext cx="2814399" cy="3518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Root Cause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35023" y="6629043"/>
            <a:ext cx="6965394" cy="7177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This usually happens when the application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fails to verify user authorization properly</a:t>
            </a: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9866"/>
            <a:ext cx="579655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is Authorization?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2273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Authorization</a:t>
            </a: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means: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10326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284476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Access Level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335179"/>
            <a:ext cx="593907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Determining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what level of access a user has</a:t>
            </a: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610326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62982" y="2844760"/>
            <a:ext cx="302335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Role-Based Permissions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62982" y="3335179"/>
            <a:ext cx="593919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Permissions are usually based on the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user's role</a:t>
            </a: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4187666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Example: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630436" y="4805720"/>
            <a:ext cx="6571417" cy="1374934"/>
          </a:xfrm>
          <a:prstGeom prst="roundRect">
            <a:avLst>
              <a:gd name="adj" fmla="val 11878"/>
            </a:avLst>
          </a:prstGeom>
          <a:solidFill>
            <a:srgbClr val="D3C1B6">
              <a:alpha val="95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857250" y="503253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7250" y="5613678"/>
            <a:ext cx="61177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Full access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03253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99521" y="5613678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Limited access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6435804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DCDCD5"/>
          </a:solidFill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787515"/>
            <a:ext cx="283488" cy="22681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30906" y="6719292"/>
            <a:ext cx="1207889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The system should allow users to access </a:t>
            </a:r>
            <a:r>
              <a:rPr lang="en-US" sz="1750" b="1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only the resources they are permitted to use</a:t>
            </a:r>
            <a:r>
              <a:rPr lang="en-US" sz="175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3347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is BOLA?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75754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Broken Object Level Authorization (BOLA)</a:t>
            </a: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occurs when: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9380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836313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871674"/>
            <a:ext cx="297977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Manipulated Identifiers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362093"/>
            <a:ext cx="564249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A user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manipulates object identifiers</a:t>
            </a: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(like ID, name, or parameters) in an API request.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56884" y="379380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1955" y="3836313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8194000" y="3871674"/>
            <a:ext cx="328934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Unauthorized Data Access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194000" y="4362093"/>
            <a:ext cx="564261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This allows the user to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access data belonging to other users</a:t>
            </a: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33951" y="5598200"/>
            <a:ext cx="1270265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This can lead to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exposure of sensitive information</a:t>
            </a: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343049"/>
            <a:ext cx="30480" cy="873204"/>
          </a:xfrm>
          <a:prstGeom prst="rect">
            <a:avLst/>
          </a:prstGeom>
          <a:solidFill>
            <a:srgbClr val="E5E5E0"/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99053"/>
            <a:ext cx="716720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Why BOLA Happens in APIs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047994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BOLA is common in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API-based applications</a:t>
            </a: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because: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2677358"/>
            <a:ext cx="340162" cy="3401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2666048"/>
            <a:ext cx="68193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APIs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do not always track the full client state</a:t>
            </a: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3822740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30906" y="3811429"/>
            <a:ext cx="68193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The server relies on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parameters sent by the client</a:t>
            </a: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.</a:t>
            </a:r>
            <a:endParaRPr lang="en-US" sz="1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4968121"/>
            <a:ext cx="340162" cy="34016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30906" y="4956810"/>
            <a:ext cx="68193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These parameters often contain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object identifiers (IDs)</a:t>
            </a: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.</a:t>
            </a:r>
            <a:endParaRPr lang="en-US" sz="1750" dirty="0"/>
          </a:p>
        </p:txBody>
      </p:sp>
      <p:sp>
        <p:nvSpPr>
          <p:cNvPr id="11" name="Shape 5"/>
          <p:cNvSpPr/>
          <p:nvPr/>
        </p:nvSpPr>
        <p:spPr>
          <a:xfrm>
            <a:off x="793790" y="5903714"/>
            <a:ext cx="7556421" cy="1326713"/>
          </a:xfrm>
          <a:prstGeom prst="roundRect">
            <a:avLst>
              <a:gd name="adj" fmla="val 7181"/>
            </a:avLst>
          </a:prstGeom>
          <a:solidFill>
            <a:srgbClr val="DCDCD5"/>
          </a:solidFill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04" y="6255425"/>
            <a:ext cx="283488" cy="22681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530906" y="6187202"/>
            <a:ext cx="659249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If authorization checks are missing, attackers can </a:t>
            </a:r>
            <a:r>
              <a:rPr lang="en-US" sz="1750" b="1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modify these IDs to access other resources</a:t>
            </a:r>
            <a:r>
              <a:rPr lang="en-US" sz="175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7721"/>
            <a:ext cx="5103614" cy="6379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Example Scenario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823085"/>
            <a:ext cx="13042821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User permissions: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93790" y="2340054"/>
            <a:ext cx="4225052" cy="1162645"/>
          </a:xfrm>
          <a:prstGeom prst="roundRect">
            <a:avLst>
              <a:gd name="adj" fmla="val 7375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483" y="2551748"/>
            <a:ext cx="2551748" cy="318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483" y="2980730"/>
            <a:ext cx="3801666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Objects </a:t>
            </a:r>
            <a:r>
              <a:rPr lang="en-US" sz="160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A, 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02555" y="2340054"/>
            <a:ext cx="4225171" cy="1162645"/>
          </a:xfrm>
          <a:prstGeom prst="roundRect">
            <a:avLst>
              <a:gd name="adj" fmla="val 7375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14248" y="2551748"/>
            <a:ext cx="2551748" cy="318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14248" y="2980730"/>
            <a:ext cx="3801785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Objects </a:t>
            </a:r>
            <a:r>
              <a:rPr lang="en-US" sz="160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C, 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11439" y="2340054"/>
            <a:ext cx="4225171" cy="1162645"/>
          </a:xfrm>
          <a:prstGeom prst="roundRect">
            <a:avLst>
              <a:gd name="adj" fmla="val 7375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3133" y="2551748"/>
            <a:ext cx="2551748" cy="318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23133" y="2980730"/>
            <a:ext cx="3801785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Objects </a:t>
            </a:r>
            <a:r>
              <a:rPr lang="en-US" sz="160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E, 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790" y="3709392"/>
            <a:ext cx="13042821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Each user should only access </a:t>
            </a:r>
            <a:r>
              <a:rPr lang="en-US" sz="160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their own objects</a:t>
            </a:r>
            <a:r>
              <a:rPr lang="en-US" sz="16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3790" y="4328357"/>
            <a:ext cx="13042821" cy="33099"/>
          </a:xfrm>
          <a:prstGeom prst="rect">
            <a:avLst/>
          </a:prstGeom>
          <a:solidFill>
            <a:srgbClr val="272525">
              <a:alpha val="5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793790" y="4636889"/>
            <a:ext cx="4082891" cy="5103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BOLA Example Attack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93790" y="5422702"/>
            <a:ext cx="13042821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If </a:t>
            </a:r>
            <a:r>
              <a:rPr lang="en-US" sz="160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User 1 modifies the request</a:t>
            </a:r>
            <a:r>
              <a:rPr lang="en-US" sz="16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and tries to access: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6867" y="5939671"/>
            <a:ext cx="6566297" cy="1472089"/>
          </a:xfrm>
          <a:prstGeom prst="roundRect">
            <a:avLst>
              <a:gd name="adj" fmla="val 9985"/>
            </a:avLst>
          </a:prstGeom>
          <a:solidFill>
            <a:srgbClr val="E5E5E0">
              <a:alpha val="95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850940" y="6123384"/>
            <a:ext cx="2551748" cy="318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Attempted Access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0940" y="6625947"/>
            <a:ext cx="6158151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Object D</a:t>
            </a:r>
            <a:r>
              <a:rPr lang="en-US" sz="16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(which belongs to User 2)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71780" y="6123384"/>
            <a:ext cx="2551748" cy="318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Result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71780" y="6625947"/>
            <a:ext cx="6272451" cy="6205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And the server </a:t>
            </a:r>
            <a:r>
              <a:rPr lang="en-US" sz="160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allows access</a:t>
            </a:r>
            <a:r>
              <a:rPr lang="en-US" sz="16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, then: </a:t>
            </a:r>
            <a:r>
              <a:rPr lang="en-US" sz="160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Broken Object Level Authorization vulnerability exists.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8655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How to Identify BOLA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31062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Steps to identify the vulnerability: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477453"/>
            <a:ext cx="226814" cy="22681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3790" y="2804160"/>
            <a:ext cx="6407944" cy="30480"/>
          </a:xfrm>
          <a:prstGeom prst="rect">
            <a:avLst/>
          </a:prstGeom>
          <a:solidFill>
            <a:srgbClr val="E5E5E0"/>
          </a:solidFill>
        </p:spPr>
      </p:sp>
      <p:sp>
        <p:nvSpPr>
          <p:cNvPr id="6" name="Text 3"/>
          <p:cNvSpPr/>
          <p:nvPr/>
        </p:nvSpPr>
        <p:spPr>
          <a:xfrm>
            <a:off x="793790" y="297846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Trigger Endpoint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468886"/>
            <a:ext cx="640794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Trigger the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API endpoint using Postman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8548" y="2477453"/>
            <a:ext cx="226814" cy="22681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428548" y="2804160"/>
            <a:ext cx="6408063" cy="30480"/>
          </a:xfrm>
          <a:prstGeom prst="rect">
            <a:avLst/>
          </a:prstGeom>
          <a:solidFill>
            <a:srgbClr val="E5E5E0"/>
          </a:solidFill>
        </p:spPr>
      </p:sp>
      <p:sp>
        <p:nvSpPr>
          <p:cNvPr id="10" name="Text 6"/>
          <p:cNvSpPr/>
          <p:nvPr/>
        </p:nvSpPr>
        <p:spPr>
          <a:xfrm>
            <a:off x="7428548" y="297846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Capture Request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428548" y="3468886"/>
            <a:ext cx="640806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Capture the request in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Burp Suite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256961"/>
            <a:ext cx="226814" cy="22681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93790" y="4583668"/>
            <a:ext cx="6407944" cy="30480"/>
          </a:xfrm>
          <a:prstGeom prst="rect">
            <a:avLst/>
          </a:prstGeom>
          <a:solidFill>
            <a:srgbClr val="E5E5E0"/>
          </a:solidFill>
        </p:spPr>
      </p:sp>
      <p:sp>
        <p:nvSpPr>
          <p:cNvPr id="14" name="Text 9"/>
          <p:cNvSpPr/>
          <p:nvPr/>
        </p:nvSpPr>
        <p:spPr>
          <a:xfrm>
            <a:off x="793790" y="475797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Send to Repeater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93790" y="5248394"/>
            <a:ext cx="640794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Send the request to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Repeater</a:t>
            </a:r>
            <a:endParaRPr lang="en-US" sz="1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8548" y="4256961"/>
            <a:ext cx="226814" cy="22681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428548" y="4583668"/>
            <a:ext cx="6408063" cy="30480"/>
          </a:xfrm>
          <a:prstGeom prst="rect">
            <a:avLst/>
          </a:prstGeom>
          <a:solidFill>
            <a:srgbClr val="E5E5E0"/>
          </a:solidFill>
        </p:spPr>
      </p:sp>
      <p:sp>
        <p:nvSpPr>
          <p:cNvPr id="18" name="Text 12"/>
          <p:cNvSpPr/>
          <p:nvPr/>
        </p:nvSpPr>
        <p:spPr>
          <a:xfrm>
            <a:off x="7428548" y="475797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Identify Parameter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428548" y="5248394"/>
            <a:ext cx="640806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Identify the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parameter controlling object access</a:t>
            </a:r>
            <a:endParaRPr lang="en-US" sz="17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6036469"/>
            <a:ext cx="226814" cy="22681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93790" y="6363176"/>
            <a:ext cx="6407944" cy="30480"/>
          </a:xfrm>
          <a:prstGeom prst="rect">
            <a:avLst/>
          </a:prstGeom>
          <a:solidFill>
            <a:srgbClr val="E5E5E0"/>
          </a:solidFill>
        </p:spPr>
      </p:sp>
      <p:sp>
        <p:nvSpPr>
          <p:cNvPr id="22" name="Text 15"/>
          <p:cNvSpPr/>
          <p:nvPr/>
        </p:nvSpPr>
        <p:spPr>
          <a:xfrm>
            <a:off x="793790" y="653748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Modify ID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793790" y="7027902"/>
            <a:ext cx="640794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Modify the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ID or parameter</a:t>
            </a:r>
            <a:endParaRPr lang="en-US" sz="17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28548" y="6036469"/>
            <a:ext cx="226814" cy="22681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428548" y="6363176"/>
            <a:ext cx="6408063" cy="30480"/>
          </a:xfrm>
          <a:prstGeom prst="rect">
            <a:avLst/>
          </a:prstGeom>
          <a:solidFill>
            <a:srgbClr val="E5E5E0"/>
          </a:solidFill>
        </p:spPr>
      </p:sp>
      <p:sp>
        <p:nvSpPr>
          <p:cNvPr id="26" name="Text 18"/>
          <p:cNvSpPr/>
          <p:nvPr/>
        </p:nvSpPr>
        <p:spPr>
          <a:xfrm>
            <a:off x="7428548" y="653748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Check Response</a:t>
            </a:r>
            <a:endParaRPr lang="en-US" sz="2200" dirty="0"/>
          </a:p>
        </p:txBody>
      </p:sp>
      <p:sp>
        <p:nvSpPr>
          <p:cNvPr id="27" name="Text 19"/>
          <p:cNvSpPr/>
          <p:nvPr/>
        </p:nvSpPr>
        <p:spPr>
          <a:xfrm>
            <a:off x="7428548" y="7027902"/>
            <a:ext cx="640806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Check if </a:t>
            </a:r>
            <a:r>
              <a:rPr lang="en-US" sz="175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unauthorized data is returned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405" y="620792"/>
            <a:ext cx="4509968" cy="4418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How the Attack is Performed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61405" y="1238845"/>
            <a:ext cx="13107591" cy="1835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Basic testing process: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61405" y="1521619"/>
            <a:ext cx="565547" cy="848439"/>
          </a:xfrm>
          <a:prstGeom prst="roundRect">
            <a:avLst>
              <a:gd name="adj" fmla="val 36007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8093" y="1839754"/>
            <a:ext cx="212050" cy="212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5058" y="1662946"/>
            <a:ext cx="1767602" cy="2209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Send API Request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415058" y="1936790"/>
            <a:ext cx="12453938" cy="1835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Send API request from </a:t>
            </a:r>
            <a:r>
              <a:rPr lang="en-US" sz="110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Postman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1405" y="2458164"/>
            <a:ext cx="565547" cy="848439"/>
          </a:xfrm>
          <a:prstGeom prst="roundRect">
            <a:avLst>
              <a:gd name="adj" fmla="val 36007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093" y="2776299"/>
            <a:ext cx="212050" cy="2120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5058" y="2599492"/>
            <a:ext cx="1767602" cy="2209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Capture in Burp Suite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415058" y="2873335"/>
            <a:ext cx="12453938" cy="1835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Capture request in </a:t>
            </a:r>
            <a:r>
              <a:rPr lang="en-US" sz="110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Burp Suite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61405" y="3394710"/>
            <a:ext cx="565547" cy="848439"/>
          </a:xfrm>
          <a:prstGeom prst="roundRect">
            <a:avLst>
              <a:gd name="adj" fmla="val 36007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8093" y="3712845"/>
            <a:ext cx="212050" cy="2120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5058" y="3536037"/>
            <a:ext cx="1767602" cy="2209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Send to Repeater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415058" y="3809881"/>
            <a:ext cx="12453938" cy="1835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Send the request to </a:t>
            </a:r>
            <a:r>
              <a:rPr lang="en-US" sz="110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Repeater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61405" y="4331256"/>
            <a:ext cx="565547" cy="848439"/>
          </a:xfrm>
          <a:prstGeom prst="roundRect">
            <a:avLst>
              <a:gd name="adj" fmla="val 36007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8093" y="4649391"/>
            <a:ext cx="212050" cy="2120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5058" y="4472583"/>
            <a:ext cx="1767602" cy="2209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Modify Object ID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415058" y="4746427"/>
            <a:ext cx="12453938" cy="1835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Modify the </a:t>
            </a:r>
            <a:r>
              <a:rPr lang="en-US" sz="110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object ID / parameter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61405" y="5267801"/>
            <a:ext cx="565547" cy="848439"/>
          </a:xfrm>
          <a:prstGeom prst="roundRect">
            <a:avLst>
              <a:gd name="adj" fmla="val 36007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8093" y="5585936"/>
            <a:ext cx="212050" cy="2120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5058" y="5409128"/>
            <a:ext cx="1767602" cy="2209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Resend Request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415058" y="5682972"/>
            <a:ext cx="12453938" cy="1835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Send the request again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761405" y="6204347"/>
            <a:ext cx="565547" cy="848439"/>
          </a:xfrm>
          <a:prstGeom prst="roundRect">
            <a:avLst>
              <a:gd name="adj" fmla="val 36007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8093" y="6522482"/>
            <a:ext cx="212050" cy="2120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15058" y="6345674"/>
            <a:ext cx="1767602" cy="2209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Observe Response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1415058" y="6619518"/>
            <a:ext cx="12453938" cy="1835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Observe the response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761405" y="7151965"/>
            <a:ext cx="13107591" cy="456843"/>
          </a:xfrm>
          <a:prstGeom prst="roundRect">
            <a:avLst>
              <a:gd name="adj" fmla="val 13001"/>
            </a:avLst>
          </a:prstGeom>
          <a:solidFill>
            <a:srgbClr val="DCDCD5"/>
          </a:solidFill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2732" y="7349609"/>
            <a:ext cx="176689" cy="141327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220748" y="7275314"/>
            <a:ext cx="12506920" cy="1835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If unauthorized data is accessible → </a:t>
            </a:r>
            <a:r>
              <a:rPr lang="en-US" sz="1100" b="1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BOLA vulnerability confirmed</a:t>
            </a:r>
            <a:r>
              <a:rPr lang="en-US" sz="110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2328</Words>
  <Application>WPS Presentation</Application>
  <PresentationFormat>On-screen Show (16:9)</PresentationFormat>
  <Paragraphs>158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Gelasio</vt:lpstr>
      <vt:lpstr>Gelasio</vt:lpstr>
      <vt:lpstr>Gelasio</vt:lpstr>
      <vt:lpstr>Lato</vt:lpstr>
      <vt:lpstr>Lato</vt:lpstr>
      <vt:lpstr>Lato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Rupika Chodagum</cp:lastModifiedBy>
  <cp:revision>2</cp:revision>
  <dcterms:created xsi:type="dcterms:W3CDTF">2026-03-07T04:18:00Z</dcterms:created>
  <dcterms:modified xsi:type="dcterms:W3CDTF">2026-03-07T04:25:26Z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1DA0CBC639DA4D1C994F7FA70631ABE5_12</vt:lpwstr>
  </property>
  <property fmtid="{D5CDD505-2E9C-101B-9397-08002B2CF9AE}" pid="3" name="KSOProductBuildVer">
    <vt:lpwstr>1033-12.2.0.23196</vt:lpwstr>
  </property>
</Properties>
</file>